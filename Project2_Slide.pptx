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8"/>
  </p:notesMasterIdLst>
  <p:handoutMasterIdLst>
    <p:handoutMasterId r:id="rId39"/>
  </p:handoutMasterIdLst>
  <p:sldIdLst>
    <p:sldId id="275" r:id="rId2"/>
    <p:sldId id="257" r:id="rId3"/>
    <p:sldId id="267" r:id="rId4"/>
    <p:sldId id="261" r:id="rId5"/>
    <p:sldId id="278" r:id="rId6"/>
    <p:sldId id="276" r:id="rId7"/>
    <p:sldId id="280" r:id="rId8"/>
    <p:sldId id="279" r:id="rId9"/>
    <p:sldId id="281" r:id="rId10"/>
    <p:sldId id="282" r:id="rId11"/>
    <p:sldId id="284" r:id="rId12"/>
    <p:sldId id="283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7" r:id="rId25"/>
    <p:sldId id="299" r:id="rId26"/>
    <p:sldId id="298" r:id="rId27"/>
    <p:sldId id="300" r:id="rId28"/>
    <p:sldId id="296" r:id="rId29"/>
    <p:sldId id="301" r:id="rId30"/>
    <p:sldId id="302" r:id="rId31"/>
    <p:sldId id="303" r:id="rId32"/>
    <p:sldId id="304" r:id="rId33"/>
    <p:sldId id="306" r:id="rId34"/>
    <p:sldId id="307" r:id="rId35"/>
    <p:sldId id="305" r:id="rId36"/>
    <p:sldId id="269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10" d="100"/>
          <a:sy n="110" d="100"/>
        </p:scale>
        <p:origin x="638" y="-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6/30/2025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4" r:id="rId3"/>
    <p:sldLayoutId id="2147483683" r:id="rId4"/>
    <p:sldLayoutId id="2147483676" r:id="rId5"/>
    <p:sldLayoutId id="2147483679" r:id="rId6"/>
    <p:sldLayoutId id="2147483680" r:id="rId7"/>
    <p:sldLayoutId id="2147483681" r:id="rId8"/>
    <p:sldLayoutId id="2147483682" r:id="rId9"/>
    <p:sldLayoutId id="214748367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255993" y="2467817"/>
            <a:ext cx="7733461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000" dirty="0"/>
              <a:t>Research and Deployment of Suricata as a Network-Based IDS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255993" y="431307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0" dirty="0"/>
              <a:t>Student: Chu Trung Anh 20225564</a:t>
            </a:r>
          </a:p>
          <a:p>
            <a:pPr>
              <a:lnSpc>
                <a:spcPct val="100000"/>
              </a:lnSpc>
            </a:pPr>
            <a:r>
              <a:rPr lang="en-US" sz="2400" b="0" dirty="0"/>
              <a:t>Instructor: Assoc. Prof. Nguyen Linh Giang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Contents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vi-VN" dirty="0"/>
              <a:t>IDS </a:t>
            </a:r>
            <a:r>
              <a:rPr lang="en-US" dirty="0"/>
              <a:t>Core Concepts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Suricata IDS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ELK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Deploy In Simulated Network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Testing Result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1. </a:t>
            </a:r>
            <a:r>
              <a:rPr lang="vi-VN" dirty="0"/>
              <a:t>IDS </a:t>
            </a:r>
            <a:r>
              <a:rPr lang="en-US" dirty="0"/>
              <a:t>Core Concepts &amp; Mechanisms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D194C7-4CF2-038C-9E2A-69A5D6763AED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Types of IDS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E379A2-E7CC-82E3-053D-E027FB894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80" y="1431133"/>
            <a:ext cx="6917821" cy="3761364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0005B8-E384-6FC4-ABFA-9618A359394C}"/>
              </a:ext>
            </a:extLst>
          </p:cNvPr>
          <p:cNvSpPr txBox="1">
            <a:spLocks/>
          </p:cNvSpPr>
          <p:nvPr/>
        </p:nvSpPr>
        <p:spPr>
          <a:xfrm>
            <a:off x="1188490" y="5246937"/>
            <a:ext cx="3045514" cy="7951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Network traffic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2046970-2E37-F374-6C5B-F89A6BCF5888}"/>
              </a:ext>
            </a:extLst>
          </p:cNvPr>
          <p:cNvSpPr txBox="1">
            <a:spLocks/>
          </p:cNvSpPr>
          <p:nvPr/>
        </p:nvSpPr>
        <p:spPr>
          <a:xfrm>
            <a:off x="4750381" y="5393945"/>
            <a:ext cx="4234003" cy="7951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File integrity, process execution,…</a:t>
            </a: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70FFD-351E-BD2F-6649-E018E540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2756B-7B0C-48CB-8315-92152CE5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01526-9805-7CC9-CA3E-C6275DA81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1. </a:t>
            </a:r>
            <a:r>
              <a:rPr lang="vi-VN" dirty="0"/>
              <a:t>IDS </a:t>
            </a:r>
            <a:r>
              <a:rPr lang="en-US" dirty="0"/>
              <a:t>Core Concepts &amp; Mechanisms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E38739-7AFC-C7DF-7F2C-3AAABC453171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Types of IDS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36887-AFFC-4955-80AD-09180ED35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089" y="1311864"/>
            <a:ext cx="5491822" cy="460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5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34690-B83B-B975-B137-A71A9A28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81E9E-DD6D-66C4-490F-6CB34200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9743D-1A94-8EF0-EAB3-A223208D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1. </a:t>
            </a:r>
            <a:r>
              <a:rPr lang="vi-VN"/>
              <a:t>IDS </a:t>
            </a:r>
            <a:r>
              <a:rPr lang="en-US"/>
              <a:t>Core Concepts &amp; Mechanisms</a:t>
            </a:r>
            <a:br>
              <a:rPr lang="en-US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015BE5-2BB9-3879-D3BE-68AEBD2EE052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/>
              <a:t>Detection method</a:t>
            </a:r>
            <a:br>
              <a:rPr lang="en-US" sz="200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CD8A2-94C4-B109-4D14-896010E080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8" t="1683" r="2504" b="2448"/>
          <a:stretch>
            <a:fillRect/>
          </a:stretch>
        </p:blipFill>
        <p:spPr>
          <a:xfrm>
            <a:off x="104966" y="1292086"/>
            <a:ext cx="3920384" cy="479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6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0A0D-EC31-63A4-D197-4E0EAC6D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48CAD-D672-1A55-32BE-1F226182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90C52-A025-C6F2-CBCE-49FA003B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1. </a:t>
            </a:r>
            <a:r>
              <a:rPr lang="vi-VN"/>
              <a:t>IDS </a:t>
            </a:r>
            <a:r>
              <a:rPr lang="en-US"/>
              <a:t>Core Concepts &amp; Mechanisms</a:t>
            </a:r>
            <a:br>
              <a:rPr lang="en-US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AA172B-EED9-A18A-617A-DB22AC738178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/>
              <a:t>Detection method</a:t>
            </a:r>
            <a:br>
              <a:rPr lang="en-US" sz="200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428F2-6CF6-F5A0-B377-6CDBEE381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8" t="1683" r="2504" b="2448"/>
          <a:stretch>
            <a:fillRect/>
          </a:stretch>
        </p:blipFill>
        <p:spPr>
          <a:xfrm>
            <a:off x="104966" y="1292086"/>
            <a:ext cx="3920384" cy="4794076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D63017-501C-5A71-2F7B-5E867FEBE212}"/>
              </a:ext>
            </a:extLst>
          </p:cNvPr>
          <p:cNvSpPr txBox="1">
            <a:spLocks/>
          </p:cNvSpPr>
          <p:nvPr/>
        </p:nvSpPr>
        <p:spPr>
          <a:xfrm>
            <a:off x="4075268" y="1743962"/>
            <a:ext cx="4963766" cy="4089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Signature-based detection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- Highly effective against known threats.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-  Low false positive rate when signatures are well defined.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/>
              <a:t>It is challenging to build a rule set that is flexible.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/>
              <a:t>Can only detect known threats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852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F5012-B948-4076-7BE1-D8B5A43F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7DD59-AC08-6BB7-8446-0AEE6F4F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5B1095-D185-E547-CC7A-816B8113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1. </a:t>
            </a:r>
            <a:r>
              <a:rPr lang="vi-VN"/>
              <a:t>IDS </a:t>
            </a:r>
            <a:r>
              <a:rPr lang="en-US"/>
              <a:t>Core Concepts &amp; Mechanisms</a:t>
            </a:r>
            <a:br>
              <a:rPr lang="en-US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B4A27D-100E-ECCD-08B0-C0349F8AD78F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/>
              <a:t>Detection method</a:t>
            </a:r>
            <a:br>
              <a:rPr lang="en-US" sz="200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F1CAE-2AE6-8277-2E08-76A499521C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8" t="1683" r="2504" b="2448"/>
          <a:stretch>
            <a:fillRect/>
          </a:stretch>
        </p:blipFill>
        <p:spPr>
          <a:xfrm>
            <a:off x="104966" y="1292086"/>
            <a:ext cx="3920384" cy="4794076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5FDFC40-90BE-EFB6-9BB8-0C2448CA39EC}"/>
              </a:ext>
            </a:extLst>
          </p:cNvPr>
          <p:cNvSpPr txBox="1">
            <a:spLocks/>
          </p:cNvSpPr>
          <p:nvPr/>
        </p:nvSpPr>
        <p:spPr>
          <a:xfrm>
            <a:off x="4075268" y="1824162"/>
            <a:ext cx="4963766" cy="29068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Anomaly-based detection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- Detection of unknown threats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/>
              <a:t>Adaptability: Anomaly-based systems can adapt to changing network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vironments</a:t>
            </a:r>
            <a:r>
              <a:rPr lang="en-US" sz="2200" dirty="0"/>
              <a:t> and evolving attack techniques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/>
              <a:t>May generate more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284358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4AE91-0B09-1AB0-ECD3-7766226F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C56C1-CE09-8F04-EB25-29275BC3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1695D-E03B-48F0-4605-83D1C059F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1. </a:t>
            </a:r>
            <a:r>
              <a:rPr lang="vi-VN" dirty="0"/>
              <a:t>IDS </a:t>
            </a:r>
            <a:r>
              <a:rPr lang="en-US" dirty="0"/>
              <a:t>Core Concepts &amp; Mechanisms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5999827-E3CD-D334-4E36-5C94F6001BEB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Some IDS on market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7BC16D-7C23-6A3B-D14B-D39877CF4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747" y="1113183"/>
            <a:ext cx="5930505" cy="515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2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F8ADC-15C2-72E6-62BA-CCE36058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BC049-70BF-57F3-8477-59BAB76B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593CA-1D88-65B7-34D0-CB028B9A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2. Suricata IDS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48FFA3-FFB9-1A5D-D10B-FEA520D90429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Introduction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A90AEA-C81B-0A57-1F18-B50076214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90425"/>
            <a:ext cx="9144000" cy="2283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5AAA65-7B64-0339-788E-8B5F6FF93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590" y="1207936"/>
            <a:ext cx="2758819" cy="6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65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573F-F6FE-9B35-9861-56AB6326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BB14D0-EBEA-6EF7-E51F-44728973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DEF0E-081E-551B-3C45-87916D562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2. Suricata IDS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85C5D07-16EF-C9DD-B004-B8413DBBE4FE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Introduction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FBEE4-6D9C-CC64-8864-34A68AAAE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90425"/>
            <a:ext cx="9144000" cy="2283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4703C8-4D74-B461-AE96-87DF65E66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590" y="1207936"/>
            <a:ext cx="2758819" cy="68248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D54D97F-D638-8454-B67B-237ED5C4D368}"/>
              </a:ext>
            </a:extLst>
          </p:cNvPr>
          <p:cNvSpPr txBox="1">
            <a:spLocks/>
          </p:cNvSpPr>
          <p:nvPr/>
        </p:nvSpPr>
        <p:spPr>
          <a:xfrm>
            <a:off x="526525" y="4435848"/>
            <a:ext cx="3501189" cy="16503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Open-source</a:t>
            </a:r>
          </a:p>
          <a:p>
            <a:pPr>
              <a:lnSpc>
                <a:spcPct val="100000"/>
              </a:lnSpc>
            </a:pPr>
            <a:r>
              <a:rPr lang="en-US" dirty="0"/>
              <a:t>Compatible with Snort rules</a:t>
            </a:r>
          </a:p>
        </p:txBody>
      </p:sp>
    </p:spTree>
    <p:extLst>
      <p:ext uri="{BB962C8B-B14F-4D97-AF65-F5344CB8AC3E}">
        <p14:creationId xmlns:p14="http://schemas.microsoft.com/office/powerpoint/2010/main" val="417624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D118-3245-465D-0401-40CDD35BA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88ADE-D643-042C-2EF0-3F6A7D047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B2DE9-C92C-EBD7-3AB3-340A52213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2. Suricata IDS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9D044F-C7C0-EAB0-D616-F559DF0B36E6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Introduction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ADFCF-3D40-9668-8E46-C796D1CDD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90425"/>
            <a:ext cx="9144000" cy="2283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B3F5C-5FF7-95FB-2E28-51B681C69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590" y="1207936"/>
            <a:ext cx="2758819" cy="68248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631056C-EF38-3724-9464-BF76D498EE5F}"/>
              </a:ext>
            </a:extLst>
          </p:cNvPr>
          <p:cNvSpPr txBox="1">
            <a:spLocks/>
          </p:cNvSpPr>
          <p:nvPr/>
        </p:nvSpPr>
        <p:spPr>
          <a:xfrm>
            <a:off x="526525" y="4195153"/>
            <a:ext cx="3501189" cy="16503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Open-source</a:t>
            </a:r>
          </a:p>
          <a:p>
            <a:pPr>
              <a:lnSpc>
                <a:spcPct val="100000"/>
              </a:lnSpc>
            </a:pPr>
            <a:r>
              <a:rPr lang="en-US" dirty="0"/>
              <a:t>Compatible with Snort rules</a:t>
            </a:r>
          </a:p>
          <a:p>
            <a:pPr>
              <a:lnSpc>
                <a:spcPct val="100000"/>
              </a:lnSpc>
            </a:pPr>
            <a:r>
              <a:rPr lang="en-US" dirty="0"/>
              <a:t>Work as IDS/ IPS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23E6101-4C5C-D383-7E42-85D69609B2DE}"/>
              </a:ext>
            </a:extLst>
          </p:cNvPr>
          <p:cNvSpPr txBox="1">
            <a:spLocks/>
          </p:cNvSpPr>
          <p:nvPr/>
        </p:nvSpPr>
        <p:spPr>
          <a:xfrm>
            <a:off x="4205896" y="4209760"/>
            <a:ext cx="4335379" cy="16503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Support multi-threading</a:t>
            </a:r>
          </a:p>
          <a:p>
            <a:pPr>
              <a:lnSpc>
                <a:spcPct val="100000"/>
              </a:lnSpc>
            </a:pPr>
            <a:r>
              <a:rPr lang="en-US" dirty="0"/>
              <a:t>Ability to incorporate with other security tools</a:t>
            </a:r>
          </a:p>
        </p:txBody>
      </p:sp>
    </p:spTree>
    <p:extLst>
      <p:ext uri="{BB962C8B-B14F-4D97-AF65-F5344CB8AC3E}">
        <p14:creationId xmlns:p14="http://schemas.microsoft.com/office/powerpoint/2010/main" val="547163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EC2E4-1FD1-BA3C-9793-297DC317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3B4E8-464A-D91F-2ED2-CDA417FAD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931FC-5F1A-B23A-E369-AD2AB03F7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2. Suricata IDS</a:t>
            </a:r>
            <a:br>
              <a:rPr lang="en-US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01E70D-DBC1-ACD9-C129-ACEAFA7B449C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/>
              <a:t>General Architecture</a:t>
            </a:r>
            <a:br>
              <a:rPr lang="en-US" sz="2000"/>
            </a:b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FE233-0937-0022-8EE9-9CE513996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35" y="1417896"/>
            <a:ext cx="8031479" cy="415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36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4ABC0-B0E3-E6EE-9ACC-2E7F02D9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67C9B-A04E-1A2F-4B0D-1002A00D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BEB27-E402-7D20-FA22-4C724EFE2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2. Suricata IDS</a:t>
            </a:r>
            <a:br>
              <a:rPr lang="en-US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503EFA-C868-72C5-8375-BB00821FDEE9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Rule structure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2E9E2-6C98-BEA3-A92B-E1F35CB0D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43" y="1376891"/>
            <a:ext cx="7304314" cy="36284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2F13D8-B479-431E-5714-8B99585D715E}"/>
              </a:ext>
            </a:extLst>
          </p:cNvPr>
          <p:cNvSpPr/>
          <p:nvPr/>
        </p:nvSpPr>
        <p:spPr>
          <a:xfrm>
            <a:off x="4223657" y="4822371"/>
            <a:ext cx="1132114" cy="3519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630AB-978B-EFE7-A389-7136AEB208D6}"/>
              </a:ext>
            </a:extLst>
          </p:cNvPr>
          <p:cNvSpPr/>
          <p:nvPr/>
        </p:nvSpPr>
        <p:spPr>
          <a:xfrm>
            <a:off x="4376057" y="1331795"/>
            <a:ext cx="1132114" cy="3519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8E43C-C735-3EF5-7C4A-3E4442331DD2}"/>
              </a:ext>
            </a:extLst>
          </p:cNvPr>
          <p:cNvSpPr txBox="1"/>
          <p:nvPr/>
        </p:nvSpPr>
        <p:spPr>
          <a:xfrm>
            <a:off x="4376057" y="1331795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Header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550C3D-4A33-DCB2-DF51-7308F4AACF01}"/>
              </a:ext>
            </a:extLst>
          </p:cNvPr>
          <p:cNvSpPr txBox="1"/>
          <p:nvPr/>
        </p:nvSpPr>
        <p:spPr>
          <a:xfrm>
            <a:off x="4223657" y="4701286"/>
            <a:ext cx="1069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Option</a:t>
            </a:r>
          </a:p>
        </p:txBody>
      </p:sp>
    </p:spTree>
    <p:extLst>
      <p:ext uri="{BB962C8B-B14F-4D97-AF65-F5344CB8AC3E}">
        <p14:creationId xmlns:p14="http://schemas.microsoft.com/office/powerpoint/2010/main" val="3631526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CB5C7-6323-EF1C-D5D1-39240ABA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DF99-44D0-1338-39BB-B6DD85820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5BA67-69FF-19D8-F895-98528EBD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2. Suricata IDS</a:t>
            </a:r>
            <a:br>
              <a:rPr lang="en-US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7E786B-47FB-C88C-2973-DCAA917B61A3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Rule structure - Action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172F83-E9F7-FCF3-E0BD-293D28FE5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138" y="1207936"/>
            <a:ext cx="5889724" cy="504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57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E79A-E2C8-0A07-EC61-4166568F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054AE-B697-4FD9-526E-C2588BB2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1C766-8CD2-B9DA-CB31-F90558D8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2. Suricata IDS</a:t>
            </a:r>
            <a:br>
              <a:rPr lang="en-US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2ACDF4-83DD-E4DF-3143-4220DAA3A01E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Rule structure - Header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F8C2D-CBA1-AF15-8B32-267F0C466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77" y="2927816"/>
            <a:ext cx="8556171" cy="97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19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D39DA-3279-2C05-EAA5-D3526B97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50259-449F-A700-039F-33240F01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1AADF-822C-1780-B33D-49226782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3. ELK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12FE17-1EF2-DDC5-FB93-14A2C643C043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Components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41E56D-7FA4-8196-CA09-68E3F955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4799"/>
            <a:ext cx="9144000" cy="350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3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06CF-C4F6-3C56-2CDD-46ED8E626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27DF1-4759-89EE-14B8-F9FEA932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25ED2-F08D-2959-0A68-E94C46A9C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3. ELK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B8B21F-264D-2ECE-612F-FED294428891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Components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D239E9-20D8-A7F5-C878-A5F268816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4799"/>
            <a:ext cx="9144000" cy="35084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05D0B69-7732-8D8D-2327-30B141BDD02E}"/>
              </a:ext>
            </a:extLst>
          </p:cNvPr>
          <p:cNvSpPr/>
          <p:nvPr/>
        </p:nvSpPr>
        <p:spPr>
          <a:xfrm>
            <a:off x="254052" y="2296886"/>
            <a:ext cx="1074005" cy="2971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06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485CD-C28A-B43C-173C-D164F139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707B7-3A16-F0A7-C9ED-F9719724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0A0C3-3826-5386-E695-88000D55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3. ELK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630E75-AAA5-C357-4AD4-775AACA5D1B2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Components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EF8D1-98C4-4307-A501-5407A3C02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4799"/>
            <a:ext cx="9144000" cy="35084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482B14-3304-E8AF-1734-91575D8C3D0F}"/>
              </a:ext>
            </a:extLst>
          </p:cNvPr>
          <p:cNvSpPr/>
          <p:nvPr/>
        </p:nvSpPr>
        <p:spPr>
          <a:xfrm>
            <a:off x="2460172" y="2080771"/>
            <a:ext cx="1360714" cy="2971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B6440F-584A-FC91-6EB0-4FA40147A926}"/>
              </a:ext>
            </a:extLst>
          </p:cNvPr>
          <p:cNvSpPr txBox="1">
            <a:spLocks/>
          </p:cNvSpPr>
          <p:nvPr/>
        </p:nvSpPr>
        <p:spPr>
          <a:xfrm>
            <a:off x="144443" y="5234602"/>
            <a:ext cx="8999557" cy="8515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/>
              <a:t>A data processing pipeline that ingests data from multiple sources, transforms it into a standardized format and sends it to Elasticsearch.</a:t>
            </a:r>
          </a:p>
        </p:txBody>
      </p:sp>
    </p:spTree>
    <p:extLst>
      <p:ext uri="{BB962C8B-B14F-4D97-AF65-F5344CB8AC3E}">
        <p14:creationId xmlns:p14="http://schemas.microsoft.com/office/powerpoint/2010/main" val="2993373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F07E-241D-7DB2-089D-F5683D01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E9A3A-CEF2-F8DE-84E8-A938B511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1A06E-C5A0-2D5E-894E-2EADEFC6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3. ELK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87A6D4-4638-D48A-09C2-00C5C2DFBD5B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Components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88324-48CF-3041-F4DC-D8764CF6A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4799"/>
            <a:ext cx="9144000" cy="35084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B6194A-01B1-57AC-00F1-FB5079D05474}"/>
              </a:ext>
            </a:extLst>
          </p:cNvPr>
          <p:cNvSpPr/>
          <p:nvPr/>
        </p:nvSpPr>
        <p:spPr>
          <a:xfrm>
            <a:off x="4913139" y="2059000"/>
            <a:ext cx="1465890" cy="2971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55B3FE9-931F-F06D-D22C-A4D70EFF0CCE}"/>
              </a:ext>
            </a:extLst>
          </p:cNvPr>
          <p:cNvSpPr txBox="1">
            <a:spLocks/>
          </p:cNvSpPr>
          <p:nvPr/>
        </p:nvSpPr>
        <p:spPr>
          <a:xfrm>
            <a:off x="144443" y="5234602"/>
            <a:ext cx="8999557" cy="8515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/>
              <a:t> A distributed search and analytics engine designed for storing and searching large volumes of data efficiently.</a:t>
            </a:r>
          </a:p>
        </p:txBody>
      </p:sp>
    </p:spTree>
    <p:extLst>
      <p:ext uri="{BB962C8B-B14F-4D97-AF65-F5344CB8AC3E}">
        <p14:creationId xmlns:p14="http://schemas.microsoft.com/office/powerpoint/2010/main" val="2688252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3CC8-9274-DCFB-614E-9E91C7E5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678B7-0E24-6BC4-5A4E-116347CE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9D12A-0577-1937-78F8-41E6BD5D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3. ELK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1A114A-536B-7707-3A81-66687B79F614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Components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7F300-2551-7058-15E7-0DAB9CE1D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4799"/>
            <a:ext cx="9144000" cy="35084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7F155B-FED9-5D71-5DD4-9D9DAE6A2D6A}"/>
              </a:ext>
            </a:extLst>
          </p:cNvPr>
          <p:cNvSpPr/>
          <p:nvPr/>
        </p:nvSpPr>
        <p:spPr>
          <a:xfrm>
            <a:off x="7163138" y="1943099"/>
            <a:ext cx="1465890" cy="2971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CBF1819-6CB7-2E5C-5E72-59A1BC45ED15}"/>
              </a:ext>
            </a:extLst>
          </p:cNvPr>
          <p:cNvSpPr txBox="1">
            <a:spLocks/>
          </p:cNvSpPr>
          <p:nvPr/>
        </p:nvSpPr>
        <p:spPr>
          <a:xfrm>
            <a:off x="144443" y="5234602"/>
            <a:ext cx="8999557" cy="8515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/>
              <a:t> A data visualization and analytics tool that allows users to create dashboards, charts, and graphs using the data stored in Elasticsearch.</a:t>
            </a:r>
          </a:p>
        </p:txBody>
      </p:sp>
    </p:spTree>
    <p:extLst>
      <p:ext uri="{BB962C8B-B14F-4D97-AF65-F5344CB8AC3E}">
        <p14:creationId xmlns:p14="http://schemas.microsoft.com/office/powerpoint/2010/main" val="40972051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AD186-30D1-0AC6-A23A-0A9B832C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D9398-DD4B-56BD-41D4-C733F84F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72957-3163-704C-4F47-F00F691C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3. ELK</a:t>
            </a:r>
            <a:br>
              <a:rPr lang="en-US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569F5A-1A43-DED1-10A9-57550FB97F88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/>
              <a:t>Components</a:t>
            </a:r>
            <a:br>
              <a:rPr lang="en-US" sz="2000"/>
            </a:b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5A9CD2-0C58-307F-2B77-C62C55676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5" y="1796143"/>
            <a:ext cx="8103250" cy="393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5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2B44E-A08D-F3F8-6E77-4D6644CB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C015F-2C81-86DA-0658-3858348A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2D9A3-63CB-9042-1F8B-BF97FFD1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4. Deploy In Simulated Network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5EF9B4-F858-010F-A072-8706C362C50B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Tools</a:t>
            </a:r>
            <a:br>
              <a:rPr lang="en-US" sz="2000" dirty="0"/>
            </a:br>
            <a:endParaRPr lang="en-US" sz="2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76A83-B0ED-DE22-DD0A-879C388C6706}"/>
              </a:ext>
            </a:extLst>
          </p:cNvPr>
          <p:cNvGrpSpPr/>
          <p:nvPr/>
        </p:nvGrpSpPr>
        <p:grpSpPr>
          <a:xfrm>
            <a:off x="1616946" y="1683846"/>
            <a:ext cx="1550797" cy="1625979"/>
            <a:chOff x="779012" y="2677886"/>
            <a:chExt cx="1735587" cy="1919288"/>
          </a:xfrm>
        </p:grpSpPr>
        <p:pic>
          <p:nvPicPr>
            <p:cNvPr id="10242" name="Picture 2">
              <a:extLst>
                <a:ext uri="{FF2B5EF4-FFF2-40B4-BE49-F238E27FC236}">
                  <a16:creationId xmlns:a16="http://schemas.microsoft.com/office/drawing/2014/main" id="{EBEE7A47-A0BE-22E0-73D8-EFF16EED0D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012" y="2677886"/>
              <a:ext cx="1504314" cy="1502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44" name="Picture 4">
              <a:extLst>
                <a:ext uri="{FF2B5EF4-FFF2-40B4-BE49-F238E27FC236}">
                  <a16:creationId xmlns:a16="http://schemas.microsoft.com/office/drawing/2014/main" id="{1BC8FFB1-5D33-D071-514D-9BEED0ADF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628" y="4348528"/>
              <a:ext cx="1621971" cy="248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46" name="Picture 6" descr="PNETLab">
            <a:extLst>
              <a:ext uri="{FF2B5EF4-FFF2-40B4-BE49-F238E27FC236}">
                <a16:creationId xmlns:a16="http://schemas.microsoft.com/office/drawing/2014/main" id="{4468D86F-6898-3EBE-25C5-3BF249217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982" y="1207936"/>
            <a:ext cx="2057401" cy="216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Quick &amp; Easy Ubuntu Server">
            <a:extLst>
              <a:ext uri="{FF2B5EF4-FFF2-40B4-BE49-F238E27FC236}">
                <a16:creationId xmlns:a16="http://schemas.microsoft.com/office/drawing/2014/main" id="{54A95730-3FD3-1A71-3253-0CC2C85D4F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1942" r="21667" b="21036"/>
          <a:stretch>
            <a:fillRect/>
          </a:stretch>
        </p:blipFill>
        <p:spPr bwMode="auto">
          <a:xfrm>
            <a:off x="1600906" y="4100746"/>
            <a:ext cx="2045808" cy="16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 descr="Cisco IOS Download">
            <a:extLst>
              <a:ext uri="{FF2B5EF4-FFF2-40B4-BE49-F238E27FC236}">
                <a16:creationId xmlns:a16="http://schemas.microsoft.com/office/drawing/2014/main" id="{5B993F37-589D-86DE-6AD7-07844E30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60" y="4089409"/>
            <a:ext cx="2036299" cy="16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854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0A567-23D2-A4A6-12D1-F7EBFEC8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74545-AFAF-77CF-51F0-20DDA053A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8CF60-32F8-8B59-FB31-4BD9E7CF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4. Deploy In Simulated Network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C2D4FF7-64D4-A27E-A7F5-2B083450A892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Network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943F87-80CF-A05E-49A1-36DFE1281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3" y="1164015"/>
            <a:ext cx="6106886" cy="508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66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7EEA5-A446-FBC0-4227-7BB188B55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513DEC-7C19-609D-63C0-64E49678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486FF-7F24-4C31-6124-097B0126E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4. Deploy In Simulated Network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2EFDA2-E90E-54AF-3EE6-7854E410F5CE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Network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4DA3F8-E3E4-5653-7310-D0792861B6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0" r="3921"/>
          <a:stretch>
            <a:fillRect/>
          </a:stretch>
        </p:blipFill>
        <p:spPr>
          <a:xfrm>
            <a:off x="87085" y="1207936"/>
            <a:ext cx="5551714" cy="50890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E368E2-001E-8D0C-3A10-03B485482333}"/>
              </a:ext>
            </a:extLst>
          </p:cNvPr>
          <p:cNvSpPr/>
          <p:nvPr/>
        </p:nvSpPr>
        <p:spPr>
          <a:xfrm>
            <a:off x="2356756" y="1207936"/>
            <a:ext cx="2422071" cy="96920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021FCA6-F2EC-E5FD-9527-A96B6080F6AD}"/>
              </a:ext>
            </a:extLst>
          </p:cNvPr>
          <p:cNvSpPr txBox="1">
            <a:spLocks/>
          </p:cNvSpPr>
          <p:nvPr/>
        </p:nvSpPr>
        <p:spPr>
          <a:xfrm>
            <a:off x="5638799" y="2064129"/>
            <a:ext cx="3418116" cy="3246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 err="1"/>
              <a:t>PnetLab</a:t>
            </a:r>
            <a:r>
              <a:rPr lang="en-US" sz="2400" dirty="0"/>
              <a:t> NAT adapter that allows all VMs inside the simulated network access to the Internet. </a:t>
            </a:r>
          </a:p>
        </p:txBody>
      </p:sp>
    </p:spTree>
    <p:extLst>
      <p:ext uri="{BB962C8B-B14F-4D97-AF65-F5344CB8AC3E}">
        <p14:creationId xmlns:p14="http://schemas.microsoft.com/office/powerpoint/2010/main" val="1245506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8741-338F-DC4F-65D2-DB9B497B3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60C6D-D9CA-5AA7-6AD9-4F24456A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2256D-AB5A-DAE3-D839-69D1F493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4. Deploy In Simulated Network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326C91-8A54-5D60-11F5-5BD3CD6950D2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Network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04D959-C558-7527-4AE0-87CFAC8EE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3" t="17363" r="3776"/>
          <a:stretch>
            <a:fillRect/>
          </a:stretch>
        </p:blipFill>
        <p:spPr>
          <a:xfrm>
            <a:off x="0" y="1807198"/>
            <a:ext cx="4985657" cy="37820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F946DBE-F703-B7A1-A845-54EA2F5D208F}"/>
              </a:ext>
            </a:extLst>
          </p:cNvPr>
          <p:cNvSpPr/>
          <p:nvPr/>
        </p:nvSpPr>
        <p:spPr>
          <a:xfrm>
            <a:off x="1908680" y="1687286"/>
            <a:ext cx="1444119" cy="11538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C06F3-C336-EA88-26E3-4B6BCE60A89F}"/>
              </a:ext>
            </a:extLst>
          </p:cNvPr>
          <p:cNvSpPr txBox="1"/>
          <p:nvPr/>
        </p:nvSpPr>
        <p:spPr>
          <a:xfrm>
            <a:off x="5105400" y="2459504"/>
            <a:ext cx="39042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router is configured to route traffic and NAT ports for SSH and HTTP from VMs inside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PnetLab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the host machine.</a:t>
            </a:r>
          </a:p>
        </p:txBody>
      </p:sp>
    </p:spTree>
    <p:extLst>
      <p:ext uri="{BB962C8B-B14F-4D97-AF65-F5344CB8AC3E}">
        <p14:creationId xmlns:p14="http://schemas.microsoft.com/office/powerpoint/2010/main" val="819080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B0030-4E93-CE80-769D-888ECB61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4D10D-EBA9-FF54-B980-258818D1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274C2-FA50-50EE-B0C2-A170D4C03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4. Deploy In Simulated Network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F4B9C1-4129-4713-17BF-9C0197926280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Network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C18FC9-F866-0604-19B9-E2682606B5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3" t="17363" r="3776"/>
          <a:stretch>
            <a:fillRect/>
          </a:stretch>
        </p:blipFill>
        <p:spPr>
          <a:xfrm>
            <a:off x="0" y="1807198"/>
            <a:ext cx="4985657" cy="37820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FDEC3B4-0DB3-28A9-762C-2867BABBDB27}"/>
              </a:ext>
            </a:extLst>
          </p:cNvPr>
          <p:cNvSpPr/>
          <p:nvPr/>
        </p:nvSpPr>
        <p:spPr>
          <a:xfrm>
            <a:off x="1723624" y="2852057"/>
            <a:ext cx="1360714" cy="11647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B2BFA63-4160-909D-CB8C-FAA23FAAE99A}"/>
              </a:ext>
            </a:extLst>
          </p:cNvPr>
          <p:cNvSpPr txBox="1">
            <a:spLocks/>
          </p:cNvSpPr>
          <p:nvPr/>
        </p:nvSpPr>
        <p:spPr>
          <a:xfrm>
            <a:off x="5151870" y="1684012"/>
            <a:ext cx="3738078" cy="3246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The switch is configured to use SPAN ports (Switched Port Analyzer), which will make copies of traffic from e0/2 and e0/3 interfaces send to the e0/1 interface, where Suricata IDS is running.</a:t>
            </a:r>
          </a:p>
        </p:txBody>
      </p:sp>
    </p:spTree>
    <p:extLst>
      <p:ext uri="{BB962C8B-B14F-4D97-AF65-F5344CB8AC3E}">
        <p14:creationId xmlns:p14="http://schemas.microsoft.com/office/powerpoint/2010/main" val="2725746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1AE89-2B7B-1A4B-4495-7232BCE6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955797-A78D-1C50-5874-6B05ECB9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7DE3B-0A37-EAAA-0C8C-05C2C2FC2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4. Deploy In Simulated Network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B518D4E-1211-CB5A-2A3C-F4DC01DA448B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Network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883100-C183-3239-7206-BE28D2D1D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3" t="17363" r="3776"/>
          <a:stretch>
            <a:fillRect/>
          </a:stretch>
        </p:blipFill>
        <p:spPr>
          <a:xfrm>
            <a:off x="0" y="1807198"/>
            <a:ext cx="4985657" cy="37820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7BAF80-BF64-4F53-9BF1-469A8AA5FBDE}"/>
              </a:ext>
            </a:extLst>
          </p:cNvPr>
          <p:cNvSpPr/>
          <p:nvPr/>
        </p:nvSpPr>
        <p:spPr>
          <a:xfrm>
            <a:off x="254052" y="2892671"/>
            <a:ext cx="1360714" cy="10726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AA7E265-FF2E-E603-4176-710F1D34566B}"/>
              </a:ext>
            </a:extLst>
          </p:cNvPr>
          <p:cNvSpPr txBox="1">
            <a:spLocks/>
          </p:cNvSpPr>
          <p:nvPr/>
        </p:nvSpPr>
        <p:spPr>
          <a:xfrm>
            <a:off x="5151870" y="2587526"/>
            <a:ext cx="3738078" cy="3246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/>
              <a:t>Monitor traffic from the SPAN port on the </a:t>
            </a:r>
            <a:r>
              <a:rPr lang="en-US" sz="2400" b="1" dirty="0"/>
              <a:t>e0</a:t>
            </a:r>
            <a:r>
              <a:rPr lang="en-US" sz="2400" dirty="0"/>
              <a:t> interface and sends logs via the </a:t>
            </a:r>
            <a:r>
              <a:rPr lang="en-US" sz="2400" b="1" dirty="0"/>
              <a:t>e1 </a:t>
            </a:r>
            <a:r>
              <a:rPr lang="en-US" sz="2400" dirty="0"/>
              <a:t>interface.</a:t>
            </a:r>
          </a:p>
        </p:txBody>
      </p:sp>
    </p:spTree>
    <p:extLst>
      <p:ext uri="{BB962C8B-B14F-4D97-AF65-F5344CB8AC3E}">
        <p14:creationId xmlns:p14="http://schemas.microsoft.com/office/powerpoint/2010/main" val="1618962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AA9FE-4D55-0BEF-CC6A-877A0FD8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22CB9-1177-2952-B7E0-DD229A0E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C9325-6A7C-ED88-72DE-717F0DE6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4. Deploy In Simulated Network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F32C40-6EBD-D6AF-D7BD-2EE31E28C902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Network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E06745-082D-3452-09A5-1E7BCBE2E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3" t="17363" r="3776"/>
          <a:stretch>
            <a:fillRect/>
          </a:stretch>
        </p:blipFill>
        <p:spPr>
          <a:xfrm>
            <a:off x="0" y="1807198"/>
            <a:ext cx="4985657" cy="37820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690315-E682-1266-6DB9-86F01BF9F5A6}"/>
              </a:ext>
            </a:extLst>
          </p:cNvPr>
          <p:cNvSpPr/>
          <p:nvPr/>
        </p:nvSpPr>
        <p:spPr>
          <a:xfrm>
            <a:off x="3378252" y="2892671"/>
            <a:ext cx="1360714" cy="10726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B966788-7ED4-0160-95FC-F3F8B4F912C9}"/>
              </a:ext>
            </a:extLst>
          </p:cNvPr>
          <p:cNvSpPr txBox="1">
            <a:spLocks/>
          </p:cNvSpPr>
          <p:nvPr/>
        </p:nvSpPr>
        <p:spPr>
          <a:xfrm>
            <a:off x="5151870" y="2587526"/>
            <a:ext cx="3738078" cy="3246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Contains Elasticsearch and Kibana for centralized logging and visualization.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92775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DD10E-2446-124E-C63C-0AABAF9BE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11694-1D60-CEA3-C3FB-BDC981C5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430BA7-475C-2911-B966-6AF3C3448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4. Deploy In Simulated Network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147338-BB08-BF6F-DF05-997FD0402ED9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Network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F9109A-4971-EB3F-8DDE-F41C870E27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3" t="17363" r="3776"/>
          <a:stretch>
            <a:fillRect/>
          </a:stretch>
        </p:blipFill>
        <p:spPr>
          <a:xfrm>
            <a:off x="0" y="1807198"/>
            <a:ext cx="4985657" cy="37820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3E03B7-AC6D-667B-4F31-0D3F8DAD57AB}"/>
              </a:ext>
            </a:extLst>
          </p:cNvPr>
          <p:cNvSpPr/>
          <p:nvPr/>
        </p:nvSpPr>
        <p:spPr>
          <a:xfrm>
            <a:off x="2492828" y="3970356"/>
            <a:ext cx="1055915" cy="10726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2BABC2-90E9-599A-6F01-FA0DDA8530E1}"/>
              </a:ext>
            </a:extLst>
          </p:cNvPr>
          <p:cNvSpPr txBox="1">
            <a:spLocks/>
          </p:cNvSpPr>
          <p:nvPr/>
        </p:nvSpPr>
        <p:spPr>
          <a:xfrm>
            <a:off x="5151870" y="2075183"/>
            <a:ext cx="3738078" cy="3246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Running DVWA (Damn Vulnerable Web Application) to simulate a vulnerable application for testing purposes via a docker container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6643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A688-3521-DD89-BD85-DF81654E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09214-007D-C032-3184-1DFDC458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246B6-FC18-5A13-0E16-D0B2EE43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4. Deploy In Simulated Network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CC43B2-19F6-7C59-E3FE-3B7E8CAC598B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Network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3F089-5BA4-C42A-1921-A717A2F430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3" t="17363" r="3776"/>
          <a:stretch>
            <a:fillRect/>
          </a:stretch>
        </p:blipFill>
        <p:spPr>
          <a:xfrm>
            <a:off x="0" y="1807198"/>
            <a:ext cx="4985657" cy="37820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148152E-D1C5-F5ED-1E62-89713CC29D2B}"/>
              </a:ext>
            </a:extLst>
          </p:cNvPr>
          <p:cNvSpPr/>
          <p:nvPr/>
        </p:nvSpPr>
        <p:spPr>
          <a:xfrm>
            <a:off x="1175657" y="3992128"/>
            <a:ext cx="1055915" cy="10726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7EB81-E91A-8B00-0D6F-08645CFE33FC}"/>
              </a:ext>
            </a:extLst>
          </p:cNvPr>
          <p:cNvSpPr txBox="1">
            <a:spLocks/>
          </p:cNvSpPr>
          <p:nvPr/>
        </p:nvSpPr>
        <p:spPr>
          <a:xfrm>
            <a:off x="5151870" y="2075183"/>
            <a:ext cx="3738078" cy="3246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VM for penetration testing and simulating attacks against the webserver.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4823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1E70-5082-E06C-75D1-FB02D85B6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ED9A8-5F2C-08D1-A0BD-C17E28AB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FCBCA-999D-51DB-21A3-F7310FC29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5.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69D5F-E3B2-337C-983F-79730614D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1201989"/>
            <a:ext cx="8142514" cy="495454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F89024D-4035-27B6-B942-86A49CD660F4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Alert on reconnaissance activity</a:t>
            </a:r>
          </a:p>
        </p:txBody>
      </p:sp>
    </p:spTree>
    <p:extLst>
      <p:ext uri="{BB962C8B-B14F-4D97-AF65-F5344CB8AC3E}">
        <p14:creationId xmlns:p14="http://schemas.microsoft.com/office/powerpoint/2010/main" val="2221110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5E8D4-6C63-0423-BBB9-3ACCF9F9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8E41B-682B-CEE0-3D43-67022BA2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0B79F-ACE3-BC22-3408-69B66F67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5.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9BA0C-87E1-D413-8B7A-982ADC67B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1201989"/>
            <a:ext cx="8142514" cy="495454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1B495E8-3208-D0B7-F5CF-9D5998AE8CEC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Alert on reconnaissance activity</a:t>
            </a:r>
          </a:p>
        </p:txBody>
      </p:sp>
    </p:spTree>
    <p:extLst>
      <p:ext uri="{BB962C8B-B14F-4D97-AF65-F5344CB8AC3E}">
        <p14:creationId xmlns:p14="http://schemas.microsoft.com/office/powerpoint/2010/main" val="3184974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F57D1-7E2E-80B9-F1BF-00531B40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E17B0-DA1A-3C9A-C942-5B0391A6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E890D-8883-3FCB-BF24-95009B445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5. Testing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2CB37B7-0213-8905-7136-E2B4B6254B60}"/>
              </a:ext>
            </a:extLst>
          </p:cNvPr>
          <p:cNvSpPr txBox="1">
            <a:spLocks/>
          </p:cNvSpPr>
          <p:nvPr/>
        </p:nvSpPr>
        <p:spPr>
          <a:xfrm>
            <a:off x="288887" y="771838"/>
            <a:ext cx="8635896" cy="4360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/>
              <a:t>Alert on reconnaissance activity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5F555-FA48-DE19-D73D-E06DF872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936"/>
            <a:ext cx="9144000" cy="2797413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536CC15-D122-61EC-D4CB-43EA4155E4D4}"/>
              </a:ext>
            </a:extLst>
          </p:cNvPr>
          <p:cNvSpPr txBox="1">
            <a:spLocks/>
          </p:cNvSpPr>
          <p:nvPr/>
        </p:nvSpPr>
        <p:spPr>
          <a:xfrm>
            <a:off x="100898" y="4005349"/>
            <a:ext cx="3738078" cy="4938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/>
              <a:t>Alert from fast.log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EF1941-98CE-15B7-663A-81ACF3E4F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5705"/>
            <a:ext cx="9144000" cy="86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663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B7EB8-7D3C-ECE9-3848-AB7D1C21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09BC0-656B-DE85-57AF-B2FB5BBF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CE54F-4174-09E2-0078-700AC993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5. Testing</a:t>
            </a:r>
          </a:p>
        </p:txBody>
      </p:sp>
      <p:pic>
        <p:nvPicPr>
          <p:cNvPr id="12290" name="Picture 2" descr="alt text">
            <a:extLst>
              <a:ext uri="{FF2B5EF4-FFF2-40B4-BE49-F238E27FC236}">
                <a16:creationId xmlns:a16="http://schemas.microsoft.com/office/drawing/2014/main" id="{1793AC74-FC81-E95D-4BCB-682277BF6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0731"/>
            <a:ext cx="9144000" cy="421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770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867</TotalTime>
  <Words>636</Words>
  <Application>Microsoft Office PowerPoint</Application>
  <PresentationFormat>On-screen Show (4:3)</PresentationFormat>
  <Paragraphs>139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Lato</vt:lpstr>
      <vt:lpstr>Office Theme</vt:lpstr>
      <vt:lpstr>PowerPoint Presentation</vt:lpstr>
      <vt:lpstr>PowerPoint Presentation</vt:lpstr>
      <vt:lpstr>Contents</vt:lpstr>
      <vt:lpstr>1. IDS Core Concepts &amp; Mechanisms </vt:lpstr>
      <vt:lpstr>1. IDS Core Concepts &amp; Mechanisms </vt:lpstr>
      <vt:lpstr>1. IDS Core Concepts &amp; Mechanisms </vt:lpstr>
      <vt:lpstr>1. IDS Core Concepts &amp; Mechanisms </vt:lpstr>
      <vt:lpstr>1. IDS Core Concepts &amp; Mechanisms </vt:lpstr>
      <vt:lpstr>1. IDS Core Concepts &amp; Mechanisms </vt:lpstr>
      <vt:lpstr>2. Suricata IDS </vt:lpstr>
      <vt:lpstr>2. Suricata IDS </vt:lpstr>
      <vt:lpstr>2. Suricata IDS </vt:lpstr>
      <vt:lpstr>2. Suricata IDS </vt:lpstr>
      <vt:lpstr>2. Suricata IDS </vt:lpstr>
      <vt:lpstr>2. Suricata IDS </vt:lpstr>
      <vt:lpstr>2. Suricata IDS </vt:lpstr>
      <vt:lpstr>3. ELK </vt:lpstr>
      <vt:lpstr>3. ELK </vt:lpstr>
      <vt:lpstr>3. ELK </vt:lpstr>
      <vt:lpstr>3. ELK </vt:lpstr>
      <vt:lpstr>3. ELK </vt:lpstr>
      <vt:lpstr>3. ELK </vt:lpstr>
      <vt:lpstr>4. Deploy In Simulated Network</vt:lpstr>
      <vt:lpstr>4. Deploy In Simulated Network</vt:lpstr>
      <vt:lpstr>4. Deploy In Simulated Network</vt:lpstr>
      <vt:lpstr>4. Deploy In Simulated Network</vt:lpstr>
      <vt:lpstr>4. Deploy In Simulated Network</vt:lpstr>
      <vt:lpstr>4. Deploy In Simulated Network</vt:lpstr>
      <vt:lpstr>4. Deploy In Simulated Network</vt:lpstr>
      <vt:lpstr>4. Deploy In Simulated Network</vt:lpstr>
      <vt:lpstr>4. Deploy In Simulated Network</vt:lpstr>
      <vt:lpstr>5. Testing</vt:lpstr>
      <vt:lpstr>5. Testing</vt:lpstr>
      <vt:lpstr>5. Testing</vt:lpstr>
      <vt:lpstr>5. Testing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Chu Trung Anh 20225564</cp:lastModifiedBy>
  <cp:revision>16</cp:revision>
  <dcterms:created xsi:type="dcterms:W3CDTF">2021-05-28T04:32:29Z</dcterms:created>
  <dcterms:modified xsi:type="dcterms:W3CDTF">2025-06-30T14:54:50Z</dcterms:modified>
</cp:coreProperties>
</file>